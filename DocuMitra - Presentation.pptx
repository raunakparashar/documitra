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Outfit"/>
      <p:bold r:id="rId10"/>
    </p:embeddedFont>
    <p:embeddedFont>
      <p:font typeface="Plus Jakarta Sans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27534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0296" y="2534691"/>
            <a:ext cx="11251406" cy="866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5400" b="1" i="0" u="none" dirty="0" err="1">
                <a:solidFill>
                  <a:srgbClr val="F8FAFC"/>
                </a:solidFill>
                <a:latin typeface="Outfit"/>
              </a:rPr>
              <a:t>DocuMitra</a:t>
            </a:r>
            <a:r>
              <a:rPr sz="5400" b="1" i="0" u="none" dirty="0">
                <a:solidFill>
                  <a:srgbClr val="F8FAFC"/>
                </a:solidFill>
                <a:latin typeface="Outfit"/>
              </a:rPr>
              <a:t> </a:t>
            </a:r>
            <a:r>
              <a:rPr sz="5400" b="1" i="0" u="none" dirty="0">
                <a:solidFill>
                  <a:srgbClr val="38BDF8"/>
                </a:solidFill>
                <a:latin typeface="Outfit"/>
              </a:rPr>
              <a:t>(</a:t>
            </a:r>
            <a:r>
              <a:rPr sz="5400" b="1" i="0" u="none" dirty="0" err="1">
                <a:solidFill>
                  <a:srgbClr val="38BDF8"/>
                </a:solidFill>
                <a:latin typeface="Outfit"/>
              </a:rPr>
              <a:t>डॉकूमित्र</a:t>
            </a:r>
            <a:r>
              <a:rPr sz="5400" b="1" i="0" u="none" dirty="0">
                <a:solidFill>
                  <a:srgbClr val="38BDF8"/>
                </a:solidFill>
                <a:latin typeface="Outfit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187" y="3591966"/>
            <a:ext cx="107156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>
                <a:solidFill>
                  <a:srgbClr val="94A3B8"/>
                </a:solidFill>
                <a:latin typeface="Plus Jakarta Sans"/>
              </a:rPr>
              <a:t>Your localized, AI-powered digital companion for government paperwork in rural Jharkhand. Built solo with passion and purpose.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785169"/>
            <a:ext cx="1143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26841" y="3061394"/>
            <a:ext cx="6538317" cy="771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8FAFC"/>
                </a:solidFill>
                <a:latin typeface="Outfit"/>
              </a:rPr>
              <a:t>The Real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82515" y="3975794"/>
            <a:ext cx="6226968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Plus Jakarta Sans"/>
              </a:rPr>
              <a:t>Ground-level struggles in rural administration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804219"/>
            <a:ext cx="5334000" cy="2011560"/>
          </a:xfrm>
          <a:prstGeom prst="roundRect">
            <a:avLst>
              <a:gd name="adj" fmla="val 5682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86500" y="2941290"/>
            <a:ext cx="5334000" cy="1737270"/>
          </a:xfrm>
          <a:prstGeom prst="roundRect">
            <a:avLst>
              <a:gd name="adj" fmla="val 657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116205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38BDF8"/>
                </a:solidFill>
                <a:latin typeface="Outfit"/>
              </a:rPr>
              <a:t>Why Rural Citizens Struggle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47119"/>
            <a:ext cx="61007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F8FAFC"/>
                </a:solidFill>
                <a:latin typeface="Outfit"/>
              </a:rPr>
              <a:t>Lack of Awareness &amp;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75719"/>
            <a:ext cx="4743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Villagers in remote areas don't know where to get certificates (Income, Caste, Land) or how to fill complex forms. Official portals are entirely in English or hard Hindi jargon.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284190"/>
            <a:ext cx="5562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F8FAFC"/>
                </a:solidFill>
                <a:latin typeface="Outfit"/>
              </a:rPr>
              <a:t>The Middleman Trap (दलालों का चक्कर)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512790"/>
            <a:ext cx="4743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Due to these hurdles, innocent citizens fall prey to corrupt agents who loot their time, energy, and hard-earned money for basic sarkari paperwork.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584102"/>
            <a:ext cx="3492549" cy="2451645"/>
          </a:xfrm>
          <a:prstGeom prst="roundRect">
            <a:avLst>
              <a:gd name="adj" fmla="val 4662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9799" y="2584102"/>
            <a:ext cx="3492549" cy="2451645"/>
          </a:xfrm>
          <a:prstGeom prst="roundRect">
            <a:avLst>
              <a:gd name="adj" fmla="val 4662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28099" y="2584102"/>
            <a:ext cx="3492549" cy="2451645"/>
          </a:xfrm>
          <a:prstGeom prst="roundRect">
            <a:avLst>
              <a:gd name="adj" fmla="val 4662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2936527"/>
            <a:ext cx="409575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074" y="2936527"/>
            <a:ext cx="457200" cy="361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374" y="2936527"/>
            <a:ext cx="361950" cy="361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205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38BDF8"/>
                </a:solidFill>
                <a:latin typeface="Outfit"/>
              </a:rPr>
              <a:t>Enter DocuMitra: 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517552"/>
            <a:ext cx="3808874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Outfit"/>
              </a:rPr>
              <a:t>Clear Roadmaps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917602"/>
            <a:ext cx="299724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Tells users exact document requirements and office locations without confusion.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074" y="3517552"/>
            <a:ext cx="3808874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Outfit"/>
              </a:rPr>
              <a:t>Local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074" y="3917602"/>
            <a:ext cx="299724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Simple Hindi and local dialects interface making bureaucratic processes easy to grasp.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517552"/>
            <a:ext cx="37686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Outfit"/>
              </a:rPr>
              <a:t>Anti-Middleman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3374" y="3917602"/>
            <a:ext cx="299724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Empowers villagers with direct digital guidance, saving time and money.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205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38BDF8"/>
                </a:solidFill>
                <a:latin typeface="Outfit"/>
              </a:rPr>
              <a:t>Built Solo, Designed for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95250" y="3105150"/>
            <a:ext cx="6667500" cy="1047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1" i="0" u="none">
                <a:solidFill>
                  <a:srgbClr val="38BDF8"/>
                </a:solidFill>
                <a:latin typeface="Outfi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95250" y="4248150"/>
            <a:ext cx="6667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Plus Jakarta Sans"/>
              </a:rPr>
              <a:t>Solo Developer &amp; Creator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023294"/>
            <a:ext cx="59055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True Grassroots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499544"/>
            <a:ext cx="54292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Designed completely by a single developer from concept to code and deployment. DocuMitra focuses on solving an authentic socio-economic bottleneck faced by thousands in Jharkhand every single 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205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38BDF8"/>
                </a:solidFill>
                <a:latin typeface="Outfit"/>
              </a:rPr>
              <a:t>Key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2975669"/>
            <a:ext cx="1133475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Conversational regional assistant guiding users through form filling.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392834"/>
            <a:ext cx="1133475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Comprehensive document checklist for sarkari papers (Ration, Caste, Income).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810000"/>
            <a:ext cx="1133475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Lightweight and optimized for low-bandwidth rural connectivity.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4227165"/>
            <a:ext cx="1133475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Direct link repository to verified government schemes and portals.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975669"/>
            <a:ext cx="1714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8BDF8"/>
                </a:solidFill>
                <a:latin typeface="Plus Jakarta San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392834"/>
            <a:ext cx="1714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8BDF8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810000"/>
            <a:ext cx="1714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8BDF8"/>
                </a:solidFill>
                <a:latin typeface="Plus Jakarta San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227165"/>
            <a:ext cx="1714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8BDF8"/>
                </a:solidFill>
                <a:latin typeface="Plus Jakarta Sans"/>
              </a:rPr>
              <a:t>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947987"/>
            <a:ext cx="21501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21619" y="2947987"/>
            <a:ext cx="40801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01742" y="2947987"/>
            <a:ext cx="48187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3519487"/>
            <a:ext cx="21501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21619" y="3519487"/>
            <a:ext cx="40801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1742" y="3519487"/>
            <a:ext cx="48187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4090987"/>
            <a:ext cx="21501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21619" y="4090987"/>
            <a:ext cx="40801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01742" y="4090987"/>
            <a:ext cx="48187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4662487"/>
            <a:ext cx="21501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21619" y="4662487"/>
            <a:ext cx="40801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01742" y="4662487"/>
            <a:ext cx="48187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5233987"/>
            <a:ext cx="21501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21619" y="5233987"/>
            <a:ext cx="40801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01742" y="5233987"/>
            <a:ext cx="48187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71500" y="2371725"/>
          <a:ext cx="11048999" cy="2876550"/>
        </p:xfrm>
        <a:graphic>
          <a:graphicData uri="http://schemas.openxmlformats.org/drawingml/2006/table">
            <a:tbl>
              <a:tblPr/>
              <a:tblGrid>
                <a:gridCol w="2150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0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8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8BDF8"/>
                          </a:solidFill>
                          <a:latin typeface="Outfit"/>
                        </a:rPr>
                        <a:t>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8BDF8"/>
                          </a:solidFill>
                          <a:latin typeface="Outfit"/>
                        </a:rPr>
                        <a:t>Technology Used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8BDF8"/>
                          </a:solidFill>
                          <a:latin typeface="Outfit"/>
                        </a:rPr>
                        <a:t>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Frontend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HTML5, CSS3, JavaScript / React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Clean, responsive user interface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Backend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Node.js / Python Flask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Handling user queries &amp; logic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AI &amp; Translation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Localized Prompts / LLM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Translating legal jargon into simple Hindi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Deployment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GitHub &amp; Web Hosting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Live public availability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1500" y="571500"/>
            <a:ext cx="116205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38BDF8"/>
                </a:solidFill>
                <a:latin typeface="Outfit"/>
              </a:rPr>
              <a:t>Technology Stack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95612" y="4083248"/>
            <a:ext cx="6200775" cy="4953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26741" y="2279302"/>
            <a:ext cx="8138517" cy="866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38BDF8"/>
                </a:solidFill>
                <a:latin typeface="Outfit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0515" y="3336577"/>
            <a:ext cx="7750968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Plus Jakarta Sans"/>
              </a:rPr>
              <a:t>Questions &amp; Feedback are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6265" y="4197548"/>
            <a:ext cx="717946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GitHub Repository Live &amp; Deployed • Built with ❤️ for Jharkhand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320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Outfit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Raunak Kumar</cp:lastModifiedBy>
  <cp:revision>2</cp:revision>
  <dcterms:created xsi:type="dcterms:W3CDTF">2013-01-27T09:14:16Z</dcterms:created>
  <dcterms:modified xsi:type="dcterms:W3CDTF">2026-09-19T07:31:57Z</dcterms:modified>
  <cp:category/>
</cp:coreProperties>
</file>